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Average MAE by Model — ₹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(₹)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5B-4C10-9B08-70FC6C769C60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5B-4C10-9B08-70FC6C769C60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5B-4C10-9B08-70FC6C769C60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C5B-4C10-9B08-70FC6C769C6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Dummy
(Baseline)</c:v>
                </c:pt>
                <c:pt idx="1">
                  <c:v>Linear
Regression</c:v>
                </c:pt>
                <c:pt idx="2">
                  <c:v>Ridge
Regression</c:v>
                </c:pt>
                <c:pt idx="3">
                  <c:v>Random
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19754</c:v>
                </c:pt>
                <c:pt idx="1">
                  <c:v>4523</c:v>
                </c:pt>
                <c:pt idx="2">
                  <c:v>4523</c:v>
                </c:pt>
                <c:pt idx="3">
                  <c:v>1113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5B-4C10-9B08-70FC6C769C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R² Score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A9-4CE7-9140-6F0667BE106C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A9-4CE7-9140-6F0667BE106C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A9-4CE7-9140-6F0667BE106C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A9-4CE7-9140-6F0667BE10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Dummy</c:v>
                </c:pt>
                <c:pt idx="1">
                  <c:v>Linear Reg.</c:v>
                </c:pt>
                <c:pt idx="2">
                  <c:v>Ridge Reg.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0.91</c:v>
                </c:pt>
                <c:pt idx="2">
                  <c:v>0.91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A9-4CE7-9140-6F0667BE10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53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17145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274320" cy="1714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3429000"/>
            <a:ext cx="274320" cy="1714500"/>
          </a:xfrm>
          <a:prstGeom prst="rect">
            <a:avLst/>
          </a:prstGeom>
          <a:solidFill>
            <a:srgbClr val="13880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766560" y="91440"/>
            <a:ext cx="3017520" cy="3017520"/>
          </a:xfrm>
          <a:prstGeom prst="ellipse">
            <a:avLst/>
          </a:prstGeom>
          <a:solidFill>
            <a:srgbClr val="112843"/>
          </a:solidFill>
          <a:ln w="12700">
            <a:solidFill>
              <a:srgbClr val="1128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498080" y="6400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✈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F9933"/>
                </a:solidFill>
              </a:rPr>
              <a:t>MACHINE LEARNING PROJECT  •  INDIA DOMESTIC FLIGHTS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Flight Price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Prediction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Analyzing 300,153 Indian domestic flight reservations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to predict ticket prices — Business Target: MAE &lt; 15% of mean price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Simplon Maghreb × Jobintech  |  April 2026  |  Dataset: Indian Flight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43200" cy="109728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🇮🇳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Indian Domestic 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Dataset covers 6 major Indian airlines (Vistara, Air India, Indigo, GO FIRST, AirAsia, SpiceJet) on routes between 6 key cities across India.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43200" cy="109728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15468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The 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300,153 flight reservations — 0 missing values, 0 duplicates. 11 features covering airline, cities, timing, class, duration, and booking lead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743200" cy="109728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8076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Our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5603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Build a reliable regression model to predict flight prices (in ₹ Indian Rupees). Business target: MAE well below the mean price of ₹20,889.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&amp; Variables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926080" cy="37490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Dataset Stats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300,153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25328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0040" y="3035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Indian Airlines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0040" y="3538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Indian Cities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0040" y="4041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0040" y="45445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Duplicates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Variable Types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160020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383280" y="1600200"/>
            <a:ext cx="109728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566160" y="16367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🔵  Continuous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19476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duration (hrs), price (₹)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42316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383280" y="2423160"/>
            <a:ext cx="109728" cy="7315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566160" y="24597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🟠  Nominal Categorical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27706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airline, source_city, destination_city, class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24612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383280" y="3246120"/>
            <a:ext cx="109728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566160" y="32826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🟣  Ordinal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5935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arrival_time, departure_time, days_left, stops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06908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383280" y="4069080"/>
            <a:ext cx="109728" cy="7315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566160" y="41056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🗑️  Dropped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44165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flight  (high cardinality — removed before modeling)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Univariate Analysis — Price &amp; Categorical Variables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2062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Price Distribution — right-skewed, median ₹7,425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0"/>
            <a:ext cx="411480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51560"/>
            <a:ext cx="42976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709160" y="1078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Airline Distribution — Vistara dominates (127,859 flights)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71600"/>
            <a:ext cx="420624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39319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274320" y="39776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Stops — 83% of flights have ONE stop (250,863 flights)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4320" y="4297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zero: 36,004  •  one: 250,863  •  two_or_more: 13,286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393192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4754880" y="3977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Class — 69% Economy (206,666) vs 31% Business (93,487)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4297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Price gap: Economy avg ₹6,500 vs Business avg ₹52,000+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Univariate Analysis — Numeric Variables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Duration (hrs) — mean 12.2h, median 11.25h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53312"/>
            <a:ext cx="4114800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51560"/>
            <a:ext cx="42976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709160" y="10789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Duration Boxplot — outliers above ~30h (long-haul)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53312"/>
            <a:ext cx="4206240" cy="1737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329184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228600" y="3319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Days Left — nearly uniform 1–49 days (mean 26 days)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93592"/>
            <a:ext cx="4114800" cy="12801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63440" y="3291840"/>
            <a:ext cx="4297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4709160" y="33192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Days Left Boxplot — IQR: 15–38 days, no outliers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593592"/>
            <a:ext cx="420624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Multivariate Analysis — Price Relationships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20624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Duration vs Price — weak positive trend (r=0.20)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53312"/>
            <a:ext cx="4114800" cy="1691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51560"/>
            <a:ext cx="429768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709160" y="10789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Airline vs Price — Vistara ₹30,486 | AirAsia ₹4,239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53312"/>
            <a:ext cx="4206240" cy="1691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32004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228600" y="32278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Stops vs Price — one-stop most expensive (₹22,968)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02152"/>
            <a:ext cx="411480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63440" y="3200400"/>
            <a:ext cx="4297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4709160" y="32278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Days Left vs Price — prices spike in final 7 days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502152"/>
            <a:ext cx="42062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Multivariate Analysis — Heatmaps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5029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Avg Price by Airline &amp; Stops — Vistara one-stop: ₹32,353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89888"/>
            <a:ext cx="484632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9240" y="1051560"/>
            <a:ext cx="36118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394960" y="1078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Avg Price by Departure &amp; Class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94960" y="13898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Business: ₹47K–53K regardless of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Economy: ₹4,785–7,119 (Morning cheapest)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74520"/>
            <a:ext cx="35204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Hypothesis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8778240" cy="41148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Statistic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463040"/>
            <a:ext cx="8778240" cy="5394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28600" y="1463040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Pearson 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1463040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Duration vs Price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463040"/>
            <a:ext cx="1920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r=0.2042, p≈0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743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H0 rejected — weak but significant correlation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2002536"/>
            <a:ext cx="8778240" cy="5394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28600" y="2002536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ANOVA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2002536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Airline vs Price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002536"/>
            <a:ext cx="1920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F=17,194, p≈0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002536"/>
            <a:ext cx="2743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H0 rejected — airlines differ significantly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542032"/>
            <a:ext cx="8778240" cy="5394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28600" y="2542032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Chi-square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2542032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Departure Time vs Stops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542032"/>
            <a:ext cx="1920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p≈0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542032"/>
            <a:ext cx="2743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H0 rejected — departure time &amp; stops are dependent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081528"/>
            <a:ext cx="8778240" cy="5394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28600" y="3081528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Chi-square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3081528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AirAsia market share ≠ 70%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081528"/>
            <a:ext cx="1920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χ²=597,148, p≈0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081528"/>
            <a:ext cx="2743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H0 rejected — AirAsia ≠ 70% of market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621024"/>
            <a:ext cx="8778240" cy="5394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28600" y="3621024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Chi-square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3621024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AirAsia Delhi→Mumbai ≠ 60%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3621024"/>
            <a:ext cx="1920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χ²=21,090, p≈0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621024"/>
            <a:ext cx="2743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H0 rejected — route share ≠ 60%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4160520"/>
            <a:ext cx="8778240" cy="5394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28600" y="4160520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ANOVA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00200" y="4160520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Stops vs Price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160520"/>
            <a:ext cx="1920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F=6,477, p≈0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4160520"/>
            <a:ext cx="2743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H0 rejected — stop count strongly affects price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" y="4773168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All tests run at α = 0.05 significance level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554480" cy="32918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15544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8288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🗑️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`flight`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High cardinality — too many unique codes, would cause dimensionality explosion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933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65960" y="1188720"/>
            <a:ext cx="1554480" cy="32918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65960" y="1188720"/>
            <a:ext cx="15544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96596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Encoding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5146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stops: zero→0, one→1, two_or_more→2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class: Economy→0, Business→1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933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1188720"/>
            <a:ext cx="1554480" cy="32918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749040" y="1188720"/>
            <a:ext cx="15544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74904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4904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5146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80% train / 20%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random_state=42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Stratified shuffle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933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1188720"/>
            <a:ext cx="1554480" cy="32918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532120" y="1188720"/>
            <a:ext cx="15544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3212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3212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One-Hot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Encoding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25146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airline, source_city, destination_city, arrival_time, departure_time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(fit on train only)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2514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933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0" y="1188720"/>
            <a:ext cx="1554480" cy="32918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315200" y="1188720"/>
            <a:ext cx="15544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31520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25146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duration &amp; days_left normalized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(fit on train only — no leakage)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4617720"/>
            <a:ext cx="8778240" cy="365760"/>
          </a:xfrm>
          <a:prstGeom prst="rect">
            <a:avLst/>
          </a:prstGeom>
          <a:solidFill>
            <a:srgbClr val="E2F4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⚠️  No data leakage: encoder and scaler fitted ONLY on train set, then applied to test set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Comparison — Cross Validation (5 folds)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105156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Winner: Random Forest — MAE ₹1,113 vs baseline ₹19,754. R² = 0.985. Best by a wide margin.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Model Evaluation — Random Forest on Test 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11680" cy="178308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0116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0.985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98.5% variance explained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2011680" cy="178308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2316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₹1,070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Mean Absolute Error on test 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2011680" cy="178308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17720" y="1097280"/>
            <a:ext cx="20116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1772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₹2,744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RMSE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Root Mean Squared Error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097280"/>
            <a:ext cx="2011680" cy="178308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812280" y="1097280"/>
            <a:ext cx="201168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1228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✅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1228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Met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MAE well under mean price ₹20,889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301752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28600" y="30449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Predicted vs Actual Prices — nearly perfect diagonal alignment</a:t>
            </a:r>
            <a:endParaRPr lang="en-US" sz="10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19272"/>
            <a:ext cx="3931920" cy="16002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572000" y="3017520"/>
            <a:ext cx="43891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663440" y="30906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663440" y="34290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Top predictors: class, days_left, airline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Business class inflates price by ~8×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Last 7 days: prices spike sharply (+50%)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Model pipeline exported as .joblib (no leakage at inference)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MSE: 7,527,027 — confirms tight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Tools &amp; Deliverables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  Tech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Core 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Pandas / NumPy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1396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Data manipulation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87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Seaborn / Matplotlib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0358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Modelling &amp;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4838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SciPy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4838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Statistical tests (Pearson, ANOVA, χ²)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Joblib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931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Model export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3799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43799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Development environment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0" y="1143000"/>
            <a:ext cx="4343400" cy="4114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70916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📦  Deliverables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6360" y="16916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Jupyter Notebook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19659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Structured, step-by-step, readable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66360" y="23134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Visualizations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25877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EDA plots, model comparisons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66360" y="29352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model.joblib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20954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Full sklearn pipeline exported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66360" y="35570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38313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Clean repo with README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📽️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66360" y="4178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This Presentation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44531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Summary of analysis &amp; results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82880"/>
            <a:ext cx="91440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9144000" cy="182880"/>
          </a:xfrm>
          <a:prstGeom prst="rect">
            <a:avLst/>
          </a:prstGeom>
          <a:solidFill>
            <a:srgbClr val="13880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F9933"/>
                </a:solidFill>
              </a:rPr>
              <a:t>NOTRE ÉQUIPE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0515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Meet the Team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828800" cy="1776271"/>
          </a:xfrm>
          <a:prstGeom prst="rect">
            <a:avLst/>
          </a:prstGeom>
          <a:solidFill>
            <a:srgbClr val="1C3D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82880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05840" y="2313432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2313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3319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Hamza KHIAR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148840"/>
            <a:ext cx="1828800" cy="1776271"/>
          </a:xfrm>
          <a:prstGeom prst="rect">
            <a:avLst/>
          </a:prstGeom>
          <a:solidFill>
            <a:srgbClr val="1C3D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06040" y="2148840"/>
            <a:ext cx="182880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063240" y="2313432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063240" y="2313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651760" y="3319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Oumaima BEJJA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1828800" cy="1776271"/>
          </a:xfrm>
          <a:prstGeom prst="rect">
            <a:avLst/>
          </a:prstGeom>
          <a:solidFill>
            <a:srgbClr val="1C3D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182880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120640" y="2313432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120640" y="2313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09160" y="3319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Safa NYA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2148840"/>
            <a:ext cx="1828800" cy="1776271"/>
          </a:xfrm>
          <a:prstGeom prst="rect">
            <a:avLst/>
          </a:prstGeom>
          <a:solidFill>
            <a:srgbClr val="1C3D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720840" y="2148840"/>
            <a:ext cx="1828800" cy="9144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178040" y="2313432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178040" y="23134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O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766560" y="3319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Oussama Akhrraz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28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Simplon Maghreb × Jobintech  |  Formation Data Analyst  |  Promotion 2026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82880"/>
            <a:ext cx="91440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9144000" cy="182880"/>
          </a:xfrm>
          <a:prstGeom prst="rect">
            <a:avLst/>
          </a:prstGeom>
          <a:solidFill>
            <a:srgbClr val="13880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0" y="731520"/>
            <a:ext cx="5029200" cy="5029200"/>
          </a:xfrm>
          <a:prstGeom prst="ellipse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0" y="1463040"/>
            <a:ext cx="3200400" cy="3200400"/>
          </a:xfrm>
          <a:prstGeom prst="ellipse">
            <a:avLst/>
          </a:prstGeom>
          <a:solidFill>
            <a:srgbClr val="112843"/>
          </a:solidFill>
          <a:ln w="12700">
            <a:solidFill>
              <a:srgbClr val="1128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✈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933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Questions?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We're happy to walk through any step: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statistical tests · preprocessing · model selection · confidence intervals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4B8A6"/>
                </a:solidFill>
              </a:rPr>
              <a:t>Random Forest  |  R² = 0.985  |  MAE ₹1,070  |  RMSE ₹2,744  |  Pipeline exported .joblib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1017</Words>
  <Application>Microsoft Office PowerPoint</Application>
  <PresentationFormat>Affichage à l'écran (16:9)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 Prediction</dc:title>
  <dc:subject>PptxGenJS Presentation</dc:subject>
  <dc:creator>PptxGenJS</dc:creator>
  <cp:lastModifiedBy>abdollah hammi</cp:lastModifiedBy>
  <cp:revision>2</cp:revision>
  <dcterms:created xsi:type="dcterms:W3CDTF">2026-04-25T12:21:29Z</dcterms:created>
  <dcterms:modified xsi:type="dcterms:W3CDTF">2026-04-25T12:27:58Z</dcterms:modified>
</cp:coreProperties>
</file>